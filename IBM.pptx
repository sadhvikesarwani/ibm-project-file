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2" r:id="rId5"/>
    <p:sldId id="276" r:id="rId6"/>
    <p:sldId id="298" r:id="rId7"/>
    <p:sldId id="299" r:id="rId8"/>
    <p:sldId id="307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87834D1B-A726-18FB-799A-8294A1FE8A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63B9152-B336-5993-1C67-48946279B0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253B2-FD87-4AAE-AF69-14FE02FB4D0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598999B6-0E65-F457-D4BF-F96BE9F9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6FEA9E-549C-DA0D-8B3C-832BF107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EDBB3-C345-4EAB-AB5D-9FB3AF589CF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lide Image Placeholder 11">
            <a:extLst>
              <a:ext uri="{FF2B5EF4-FFF2-40B4-BE49-F238E27FC236}">
                <a16:creationId xmlns:a16="http://schemas.microsoft.com/office/drawing/2014/main" id="{F627E2FE-9CC2-836E-40FC-1A1183B95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13B0C97-27B2-A894-9DEA-82E460C91F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43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390635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 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tx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noProof="0" dirty="0"/>
              <a:t>Click to edit </a:t>
            </a:r>
            <a:r>
              <a:rPr lang="en-US" altLang="zh-CN" noProof="0" dirty="0"/>
              <a:t>Text </a:t>
            </a:r>
            <a:r>
              <a:rPr lang="en-US" noProof="0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2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/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Card Fraud Detection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3047" y="4170784"/>
            <a:ext cx="2359448" cy="1982075"/>
          </a:xfrm>
        </p:spPr>
        <p:txBody>
          <a:bodyPr/>
          <a:lstStyle/>
          <a:p>
            <a:r>
              <a:rPr lang="en-US" sz="1600" dirty="0"/>
              <a:t>Presented by:</a:t>
            </a:r>
          </a:p>
          <a:p>
            <a:r>
              <a:rPr lang="en-US" sz="1600" dirty="0"/>
              <a:t>SADHVI KESARWANI</a:t>
            </a:r>
          </a:p>
          <a:p>
            <a:r>
              <a:rPr lang="en-US" sz="1600" dirty="0"/>
              <a:t>UU ID-UU252000006 </a:t>
            </a:r>
          </a:p>
        </p:txBody>
      </p:sp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AFA298-47A7-3B24-92B8-10A8761E5392}"/>
              </a:ext>
            </a:extLst>
          </p:cNvPr>
          <p:cNvSpPr txBox="1"/>
          <p:nvPr/>
        </p:nvSpPr>
        <p:spPr>
          <a:xfrm>
            <a:off x="4198775" y="3200400"/>
            <a:ext cx="25437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r>
              <a:rPr lang="en-US" sz="1600" dirty="0">
                <a:solidFill>
                  <a:schemeClr val="bg1"/>
                </a:solidFill>
              </a:rPr>
              <a:t>Submitted to: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SAMARTH   AMRUTE   </a:t>
            </a:r>
            <a:endParaRPr lang="en-IN" sz="1600" dirty="0">
              <a:solidFill>
                <a:schemeClr val="bg1"/>
              </a:solidFill>
            </a:endParaRPr>
          </a:p>
          <a:p>
            <a:endParaRPr lang="en-US" dirty="0"/>
          </a:p>
          <a:p>
            <a:endParaRPr lang="en-US" sz="18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EACB9E7-542D-AE17-1EE4-3905E8AB3F32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5"/>
          <a:srcRect l="27137" r="2713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522515"/>
            <a:ext cx="5117162" cy="1147666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369976"/>
            <a:ext cx="4260180" cy="23601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Credit card fraud is a major challenge in digital payments.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Millions of transactions occur daily; manual detection is impossible.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Fraudsters use advanced methods to hide fraudulent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helps detect unusual patterns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builds a hybrid ML model for accurate fraud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47646A0-2843-4745-613F-540E2AAAF362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 l="18722" r="1872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9A78-027E-4FFF-849A-F0ACBC18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LIBRARIES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521C19-6C9E-0094-6053-B0D54303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46" t="32361" r="46798" b="51885"/>
          <a:stretch>
            <a:fillRect/>
          </a:stretch>
        </p:blipFill>
        <p:spPr>
          <a:xfrm>
            <a:off x="848140" y="1749288"/>
            <a:ext cx="6467059" cy="21866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8654D6-EB2E-E5C8-7554-8526CEDCA6B9}"/>
              </a:ext>
            </a:extLst>
          </p:cNvPr>
          <p:cNvSpPr txBox="1"/>
          <p:nvPr/>
        </p:nvSpPr>
        <p:spPr>
          <a:xfrm>
            <a:off x="587829" y="2970648"/>
            <a:ext cx="85561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Imported essential ML and visualization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Seaborn/Matplotlib for plots.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SHAP for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61226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B88-93B6-4A98-8240-87BCD5C9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CSV FILE AND OVERVIEW OF DATASET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8CC64A-6D1D-96DE-49E4-DD080B136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0" t="80128" r="51195" b="25"/>
          <a:stretch>
            <a:fillRect/>
          </a:stretch>
        </p:blipFill>
        <p:spPr>
          <a:xfrm>
            <a:off x="463825" y="1622510"/>
            <a:ext cx="5115157" cy="1637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1FE173-900B-FAC4-ABE9-CF5F03589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3" t="26931" r="15435"/>
          <a:stretch>
            <a:fillRect/>
          </a:stretch>
        </p:blipFill>
        <p:spPr>
          <a:xfrm>
            <a:off x="5845629" y="1622510"/>
            <a:ext cx="5936974" cy="47326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1BC0FC-597F-5DA8-5417-223AEF0A64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83" t="22109" r="56196" b="3300"/>
          <a:stretch>
            <a:fillRect/>
          </a:stretch>
        </p:blipFill>
        <p:spPr>
          <a:xfrm>
            <a:off x="463825" y="3429001"/>
            <a:ext cx="5115156" cy="292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9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00CCA-1677-BBF9-8CA7-7D2499A6711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07136" y="4124131"/>
            <a:ext cx="1877575" cy="829347"/>
          </a:xfrm>
        </p:spPr>
        <p:txBody>
          <a:bodyPr/>
          <a:lstStyle/>
          <a:p>
            <a:r>
              <a:rPr lang="en-IN" sz="2000" dirty="0"/>
              <a:t>Logistic Regression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4BCEF-9F4A-A0F6-C8BA-86ABF682FE6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IN" sz="2000" dirty="0"/>
              <a:t>Random Forest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A6D6FF-B7D2-DB5D-6FA1-2910EAFE2A4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IN" sz="2000" dirty="0" err="1"/>
              <a:t>XGBoost</a:t>
            </a:r>
            <a:endParaRPr lang="en-IN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ED8484-F87F-3D56-8926-BA16F1FA5E0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IN" sz="2000" dirty="0" err="1"/>
              <a:t>LightGBM</a:t>
            </a:r>
            <a:endParaRPr lang="en-IN" sz="20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0955CA-46B4-7789-0046-0FE6829D46F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IN" sz="2000" dirty="0"/>
              <a:t>Hybrid Ensemble Model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39F76E3-4EBC-CDF7-075B-A0DA5898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05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D672-78B1-2656-3116-F136A964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2DDFA9-466B-F231-D55A-1BCFAA38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0" t="25089" r="43804" b="27852"/>
          <a:stretch>
            <a:fillRect/>
          </a:stretch>
        </p:blipFill>
        <p:spPr>
          <a:xfrm>
            <a:off x="6817026" y="1452038"/>
            <a:ext cx="4584982" cy="1322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D011A0-2123-F829-9136-12F2BD3F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01" t="50000" r="57065" b="40332"/>
          <a:stretch>
            <a:fillRect/>
          </a:stretch>
        </p:blipFill>
        <p:spPr>
          <a:xfrm>
            <a:off x="397564" y="1452038"/>
            <a:ext cx="5956581" cy="1322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0E8560-F837-5C57-B518-FBFB5FEDA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26" t="26726" r="46522" b="25397"/>
          <a:stretch>
            <a:fillRect/>
          </a:stretch>
        </p:blipFill>
        <p:spPr>
          <a:xfrm>
            <a:off x="397564" y="3429001"/>
            <a:ext cx="5956581" cy="3214396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D204321A-627B-8E61-2378-D2D68D0D4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298" y="-6594957"/>
            <a:ext cx="4320073" cy="124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Shows how well the model classifies fraud and non-fraud.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Contains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TP, FP, TN, FN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measure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Helps identify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false negatives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which are critical in fraud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good model should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 TP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very low FN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fraud cases.</a:t>
            </a:r>
          </a:p>
        </p:txBody>
      </p:sp>
    </p:spTree>
    <p:extLst>
      <p:ext uri="{BB962C8B-B14F-4D97-AF65-F5344CB8AC3E}">
        <p14:creationId xmlns:p14="http://schemas.microsoft.com/office/powerpoint/2010/main" val="187040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F573E46-4410-F00B-029E-CD49994C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RECALL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E2B11-9B87-4B45-EDAF-34782074E894}"/>
              </a:ext>
            </a:extLst>
          </p:cNvPr>
          <p:cNvSpPr txBox="1"/>
          <p:nvPr/>
        </p:nvSpPr>
        <p:spPr>
          <a:xfrm>
            <a:off x="587829" y="2690336"/>
            <a:ext cx="434806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Shows how many </a:t>
            </a:r>
            <a:r>
              <a:rPr lang="en-US" sz="1600" i="1" dirty="0">
                <a:solidFill>
                  <a:schemeClr val="bg1"/>
                </a:solidFill>
              </a:rPr>
              <a:t>predicted frauds</a:t>
            </a:r>
            <a:r>
              <a:rPr lang="en-US" sz="1600" dirty="0">
                <a:solidFill>
                  <a:schemeClr val="bg1"/>
                </a:solidFill>
              </a:rPr>
              <a:t> are actually fraud.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High precision = fewer false alarms.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Important for reducing unnecessary customer verification calls.</a:t>
            </a:r>
          </a:p>
          <a:p>
            <a:pPr>
              <a:buNone/>
            </a:pP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47FA5-44B3-FAFD-F441-3EB5E84D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42" t="23278" r="36173" b="12041"/>
          <a:stretch>
            <a:fillRect/>
          </a:stretch>
        </p:blipFill>
        <p:spPr>
          <a:xfrm>
            <a:off x="5411755" y="1642053"/>
            <a:ext cx="5850295" cy="418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3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3F09-E583-3AC5-9533-E1F7BBEF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B54147-32A0-A40E-4AE9-DF3EBA65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4" t="31344" r="39693" b="57131"/>
          <a:stretch>
            <a:fillRect/>
          </a:stretch>
        </p:blipFill>
        <p:spPr>
          <a:xfrm>
            <a:off x="429209" y="1622510"/>
            <a:ext cx="5561044" cy="746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941FD2-09DD-D741-DED3-408ED391D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31" t="26998" r="31059" b="-2931"/>
          <a:stretch>
            <a:fillRect/>
          </a:stretch>
        </p:blipFill>
        <p:spPr>
          <a:xfrm>
            <a:off x="429210" y="2471595"/>
            <a:ext cx="5561044" cy="4050503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DE56D527-8659-A794-408E-6EEEEE353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821" y="-3560248"/>
            <a:ext cx="3629608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Shows which features have the highest impact on detecting fraud.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Helps explain why the model classifies a transaction as fraud or non-fraud.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Improves model transparency and helps identify key risk factors.</a:t>
            </a:r>
          </a:p>
        </p:txBody>
      </p:sp>
    </p:spTree>
    <p:extLst>
      <p:ext uri="{BB962C8B-B14F-4D97-AF65-F5344CB8AC3E}">
        <p14:creationId xmlns:p14="http://schemas.microsoft.com/office/powerpoint/2010/main" val="60250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9A36-970B-B06A-3C69-14F3B6F3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8" y="507076"/>
            <a:ext cx="11251245" cy="1115434"/>
          </a:xfrm>
        </p:spPr>
        <p:txBody>
          <a:bodyPr/>
          <a:lstStyle/>
          <a:p>
            <a:r>
              <a:rPr lang="en-US" dirty="0"/>
              <a:t>CLASS DISTRIBUTION: FRAUD VS NON-FRAUD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BC2DC-3D0E-C7F0-8578-1CE6D57B35A4}"/>
              </a:ext>
            </a:extLst>
          </p:cNvPr>
          <p:cNvSpPr txBox="1"/>
          <p:nvPr/>
        </p:nvSpPr>
        <p:spPr>
          <a:xfrm>
            <a:off x="465222" y="2555846"/>
            <a:ext cx="481590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Shows the extreme imbalance between fraud and non-fraud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Fraud cases are </a:t>
            </a:r>
            <a:r>
              <a:rPr lang="en-US" sz="1600" i="1" dirty="0">
                <a:solidFill>
                  <a:schemeClr val="bg1"/>
                </a:solidFill>
              </a:rPr>
              <a:t>very few</a:t>
            </a:r>
            <a:r>
              <a:rPr lang="en-US" sz="1600" dirty="0">
                <a:solidFill>
                  <a:schemeClr val="bg1"/>
                </a:solidFill>
              </a:rPr>
              <a:t> compared to normal transactions.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Imbalance can make the model biased toward Class 0 (normal).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Highlights the need for resampling techniques like SMOTE.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22AE6E-3DF5-651C-0D87-19C69C4C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41" t="20239" r="43444" b="70240"/>
          <a:stretch>
            <a:fillRect/>
          </a:stretch>
        </p:blipFill>
        <p:spPr>
          <a:xfrm>
            <a:off x="6363477" y="1939184"/>
            <a:ext cx="5122506" cy="6166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731BB1-08D6-D606-3AB7-86321FEA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47" t="30048" r="43316" b="20239"/>
          <a:stretch>
            <a:fillRect/>
          </a:stretch>
        </p:blipFill>
        <p:spPr>
          <a:xfrm>
            <a:off x="6385246" y="2967135"/>
            <a:ext cx="5100737" cy="321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1F43-38BC-6D76-E297-08F07F36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AMOUNT DISTRIBUTION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2BF86D-1DFE-1FCF-9328-17A1FED56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04" t="22109" r="51479" b="66351"/>
          <a:stretch>
            <a:fillRect/>
          </a:stretch>
        </p:blipFill>
        <p:spPr>
          <a:xfrm>
            <a:off x="727789" y="1697155"/>
            <a:ext cx="4814596" cy="7474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E6A57D-0B60-5F0E-55D7-93A2FF37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66" t="35954" r="43444" b="10601"/>
          <a:stretch>
            <a:fillRect/>
          </a:stretch>
        </p:blipFill>
        <p:spPr>
          <a:xfrm>
            <a:off x="727789" y="2682552"/>
            <a:ext cx="4814596" cy="34616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0A6F4A-7A32-A6E2-6188-30E7470BDE59}"/>
              </a:ext>
            </a:extLst>
          </p:cNvPr>
          <p:cNvSpPr txBox="1"/>
          <p:nvPr/>
        </p:nvSpPr>
        <p:spPr>
          <a:xfrm>
            <a:off x="6649617" y="2690336"/>
            <a:ext cx="445381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Shows how transaction amounts vary across the dataset.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Majority of transactions are of </a:t>
            </a:r>
            <a:r>
              <a:rPr lang="en-US" sz="1600" b="1" dirty="0">
                <a:solidFill>
                  <a:schemeClr val="bg1"/>
                </a:solidFill>
              </a:rPr>
              <a:t>low amounts</a:t>
            </a:r>
            <a:r>
              <a:rPr lang="en-US" sz="1600" dirty="0">
                <a:solidFill>
                  <a:schemeClr val="bg1"/>
                </a:solidFill>
              </a:rPr>
              <a:t>; few are very high.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Helps detect outliers and understand spending behavior.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Amount must be </a:t>
            </a:r>
            <a:r>
              <a:rPr lang="en-US" sz="1600" b="1" dirty="0">
                <a:solidFill>
                  <a:schemeClr val="bg1"/>
                </a:solidFill>
              </a:rPr>
              <a:t>scaled</a:t>
            </a:r>
            <a:r>
              <a:rPr lang="en-US" sz="1600" dirty="0">
                <a:solidFill>
                  <a:schemeClr val="bg1"/>
                </a:solidFill>
              </a:rPr>
              <a:t> for better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E426-FB2B-81AF-3D21-0A38013D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49B1970-0E6D-D72C-3C0E-78B561BA0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118" y="-5139856"/>
            <a:ext cx="4655976" cy="1027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Shows correlation between all PCA features (V1–V28) and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PCA-transformed features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very low correlation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each 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Helps understand feature relationships and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Useful to see if any features strongly influence fraud detection.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8C53B3-4966-01CD-4A50-33F138CB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40" t="18836" r="49107" b="70205"/>
          <a:stretch>
            <a:fillRect/>
          </a:stretch>
        </p:blipFill>
        <p:spPr>
          <a:xfrm>
            <a:off x="6027576" y="1436913"/>
            <a:ext cx="5225142" cy="6438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F90D86-8713-C704-0C7D-8B7C9A88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01" t="30192" r="26071"/>
          <a:stretch>
            <a:fillRect/>
          </a:stretch>
        </p:blipFill>
        <p:spPr>
          <a:xfrm>
            <a:off x="6027576" y="2220685"/>
            <a:ext cx="5225142" cy="402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7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76AE-038F-CE31-5A98-3D803494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SMOTE RESULT: CLASS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F1BF4-1A5F-1622-C696-39AEC9489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64" t="25438" r="55192" b="67935"/>
          <a:stretch>
            <a:fillRect/>
          </a:stretch>
        </p:blipFill>
        <p:spPr>
          <a:xfrm>
            <a:off x="681135" y="1622510"/>
            <a:ext cx="4681439" cy="7288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DB394D-5C3D-5AB3-ACE6-C2235F9E0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19" t="31921" r="46505" b="25006"/>
          <a:stretch>
            <a:fillRect/>
          </a:stretch>
        </p:blipFill>
        <p:spPr>
          <a:xfrm>
            <a:off x="765110" y="2737944"/>
            <a:ext cx="4597463" cy="34295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69A79C-6AC4-FB41-22AF-A3227A96EEE7}"/>
              </a:ext>
            </a:extLst>
          </p:cNvPr>
          <p:cNvSpPr txBox="1"/>
          <p:nvPr/>
        </p:nvSpPr>
        <p:spPr>
          <a:xfrm>
            <a:off x="6531428" y="2413338"/>
            <a:ext cx="432007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SMOTE creates synthetic fraud samples to balance the classes.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After SMOTE, both fraud and non-fraud classes have </a:t>
            </a:r>
            <a:r>
              <a:rPr lang="en-US" sz="1600" b="1" dirty="0">
                <a:solidFill>
                  <a:schemeClr val="bg1"/>
                </a:solidFill>
              </a:rPr>
              <a:t>equal counts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Helps the model learn fraud patterns more effectively.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Reduces false negatives, improving fraud detection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535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0C35D10-8E2A-EEA4-C9A6-A724D171F78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5971" r="25971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6D70447-11C7-DC86-7B64-769B4101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727789"/>
            <a:ext cx="6599429" cy="1371600"/>
          </a:xfrm>
        </p:spPr>
        <p:txBody>
          <a:bodyPr/>
          <a:lstStyle/>
          <a:p>
            <a:r>
              <a:rPr lang="en-US" dirty="0"/>
              <a:t>RESULT</a:t>
            </a:r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337A975-ED14-7D2E-E907-12BBEC14435D}"/>
              </a:ext>
            </a:extLst>
          </p:cNvPr>
          <p:cNvSpPr>
            <a:spLocks noGrp="1" noChangeArrowheads="1"/>
          </p:cNvSpPr>
          <p:nvPr>
            <p:ph type="body" sz="quarter" idx="27"/>
          </p:nvPr>
        </p:nvSpPr>
        <p:spPr bwMode="auto">
          <a:xfrm>
            <a:off x="4550706" y="2765419"/>
            <a:ext cx="38748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Best performing model: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99.9%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detecting fraud vs non-fraud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Indicates the model is highly reliable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Supported by strong precision, recall, and F1-score</a:t>
            </a:r>
          </a:p>
        </p:txBody>
      </p:sp>
    </p:spTree>
    <p:extLst>
      <p:ext uri="{BB962C8B-B14F-4D97-AF65-F5344CB8AC3E}">
        <p14:creationId xmlns:p14="http://schemas.microsoft.com/office/powerpoint/2010/main" val="30363589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Dark Presentation_win32_v5" id="{58BAEBF1-5D61-4C15-85CE-FF9951014D92}" vid="{276E4683-2F29-4A34-B0D2-95452F46AA5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37AE0CD-4570-4F66-89CD-DDD19F091E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C25491-3B09-4F3E-8C86-936D290E40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D5854E-F453-4846-A87D-6EF3DCF73E3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112</TotalTime>
  <Words>459</Words>
  <Application>Microsoft Office PowerPoint</Application>
  <PresentationFormat>Widescreen</PresentationFormat>
  <Paragraphs>181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等线</vt:lpstr>
      <vt:lpstr>Abadi</vt:lpstr>
      <vt:lpstr>Arial</vt:lpstr>
      <vt:lpstr>Calibri</vt:lpstr>
      <vt:lpstr>Posterama Text Black</vt:lpstr>
      <vt:lpstr>Posterama Text SemiBold</vt:lpstr>
      <vt:lpstr>Custom</vt:lpstr>
      <vt:lpstr>Credit Card Fraud Detection</vt:lpstr>
      <vt:lpstr>Introduction</vt:lpstr>
      <vt:lpstr>IMPORTING LIBRARIES</vt:lpstr>
      <vt:lpstr>READ CSV FILE AND OVERVIEW OF DATASET</vt:lpstr>
      <vt:lpstr>MODELS USED</vt:lpstr>
      <vt:lpstr>CONFUSION MATRIX</vt:lpstr>
      <vt:lpstr>PRECISION RECALL</vt:lpstr>
      <vt:lpstr>FEATURE IMPORTANCE</vt:lpstr>
      <vt:lpstr>CLASS DISTRIBUTION: FRAUD VS NON-FRAUD</vt:lpstr>
      <vt:lpstr>AMOUNT DISTRIBUTION</vt:lpstr>
      <vt:lpstr>CORRELATION </vt:lpstr>
      <vt:lpstr>SMOTE RESULT: CLASS DISTRIBUTION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Sadhvi Kesarwani</dc:creator>
  <cp:lastModifiedBy>Sadhvi Kesarwani</cp:lastModifiedBy>
  <cp:revision>4</cp:revision>
  <dcterms:created xsi:type="dcterms:W3CDTF">2025-12-03T14:07:26Z</dcterms:created>
  <dcterms:modified xsi:type="dcterms:W3CDTF">2025-12-03T16:17:23Z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